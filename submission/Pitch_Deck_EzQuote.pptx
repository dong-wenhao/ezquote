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From a WhatsApp inquiry to an accountable quote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01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0881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7064"/>
                </a:solidFill>
                <a:latin typeface="DejaVu Sans"/>
              </a:rPr>
              <a:t>For Malaysian micro and small building-materials and hardware retailers.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13432"/>
            <a:ext cx="355701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32887"/>
            <a:ext cx="3136392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Understand the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46120"/>
            <a:ext cx="3136392" cy="12070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Chinese, English and Malay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inquiries can mix products,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quantities, specifications and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delivery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313432"/>
            <a:ext cx="355701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32887"/>
            <a:ext cx="3136392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Connect the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46120"/>
            <a:ext cx="3136392" cy="12070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Catalog prices, stock, delivery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rules and past orders are often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checked across separate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313432"/>
            <a:ext cx="3557016" cy="2286000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532887"/>
            <a:ext cx="3136392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DejaVu Sans"/>
              </a:rPr>
              <a:t>Keep the owner 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DejaVu San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246120"/>
            <a:ext cx="3136392" cy="12070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BDEBD5"/>
                </a:solidFill>
                <a:latin typeface="DejaVu Sans"/>
              </a:rPr>
              <a:t>A useful recommendation still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BDEBD5"/>
                </a:solidFill>
                <a:latin typeface="DejaVu Sans"/>
              </a:rPr>
              <a:t>needs a person to verify the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BDEBD5"/>
                </a:solidFill>
                <a:latin typeface="DejaVu Sans"/>
              </a:rPr>
              <a:t>source and approve the final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BDEBD5"/>
                </a:solidFill>
                <a:latin typeface="DejaVu Sans"/>
              </a:rPr>
              <a:t>price.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19472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5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120640"/>
            <a:ext cx="10607040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82E"/>
                </a:solidFill>
                <a:latin typeface="DejaVu Sans"/>
              </a:rPr>
              <a:t>EZQuote brings the quote chain together — without automatic customer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82E"/>
                </a:solidFill>
                <a:latin typeface="DejaVu Sans"/>
              </a:rPr>
              <a:t>sending or autonomous price approval.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From inquiry to an approved quotation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246120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20"/>
            <a:ext cx="2843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82E"/>
                </a:solidFill>
                <a:latin typeface="DejaVu Sans"/>
              </a:rPr>
              <a:t>Review the inquiry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22576"/>
            <a:ext cx="2843784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Check the source, matched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items, quantities and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63824"/>
            <a:ext cx="3246120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46704"/>
            <a:ext cx="2843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82E"/>
                </a:solidFill>
                <a:latin typeface="DejaVu Sans"/>
              </a:rPr>
              <a:t>Use connected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94760"/>
            <a:ext cx="2843784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Import the store workbook; keep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prices and stock checks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deterministic.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36008"/>
            <a:ext cx="3246120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18888"/>
            <a:ext cx="2843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82E"/>
                </a:solidFill>
                <a:latin typeface="DejaVu Sans"/>
              </a:rPr>
              <a:t>Approve and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66944"/>
            <a:ext cx="2843784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Owner approves. Staff prepare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files and replies, then record the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27064"/>
                </a:solidFill>
                <a:latin typeface="DejaVu Sans"/>
              </a:rPr>
              <a:t>outcome.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691640"/>
            <a:ext cx="7616952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948" y="1810512"/>
            <a:ext cx="5299774" cy="41330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96512" y="6144768"/>
            <a:ext cx="74523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27064"/>
                </a:solidFill>
                <a:latin typeface="DejaVu Sans"/>
              </a:rPr>
              <a:t>Actual local interface with synthetic demonstration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Human-in-the-loop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03 / 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05656" y="2468880"/>
            <a:ext cx="192024" cy="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72983" y="2468880"/>
            <a:ext cx="192025" cy="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61804" y="3209544"/>
            <a:ext cx="0" cy="429768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891272" y="4389120"/>
            <a:ext cx="173736" cy="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123944" y="4389120"/>
            <a:ext cx="173736" cy="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173736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94767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82E"/>
                </a:solidFill>
                <a:latin typeface="DejaVu Sans"/>
              </a:rPr>
              <a:t>01 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Selected WhatsApp inquiry 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pasted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73736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4767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82E"/>
                </a:solidFill>
                <a:latin typeface="DejaVu Sans"/>
              </a:rPr>
              <a:t>02  CONNECTED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5973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Store products, stock, history,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delivery and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73736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4767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82E"/>
                </a:solidFill>
                <a:latin typeface="DejaVu Sans"/>
              </a:rPr>
              <a:t>03  DECISION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5973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Local parsing, matching, pricing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and review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65760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86791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DEBD5"/>
                </a:solidFill>
                <a:latin typeface="DejaVu Sans"/>
              </a:rPr>
              <a:t>04  HUMAN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37997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ejaVu Sans"/>
              </a:rPr>
              <a:t>Staff verify; the owner accepts 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ejaVu Sans"/>
              </a:rPr>
              <a:t>edits the final price.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65760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86791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82E"/>
                </a:solidFill>
                <a:latin typeface="DejaVu Sans"/>
              </a:rPr>
              <a:t>05  VISIBLE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37997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Approved PDF, Excel and a reply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checked before sending.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57600"/>
            <a:ext cx="3557016" cy="1472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867912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82E"/>
                </a:solidFill>
                <a:latin typeface="DejaVu Sans"/>
              </a:rPr>
              <a:t>06  ACTIVITY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379976"/>
            <a:ext cx="31363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Record revisions, decisions and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7064"/>
                </a:solidFill>
                <a:latin typeface="DejaVu Sans"/>
              </a:rPr>
              <a:t>the customer outcome.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13248"/>
            <a:ext cx="11091672" cy="621792"/>
          </a:xfrm>
          <a:prstGeom prst="roundRect">
            <a:avLst>
              <a:gd name="adj" fmla="val 8000"/>
            </a:avLst>
          </a:prstGeom>
          <a:solidFill>
            <a:srgbClr val="E5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596128"/>
            <a:ext cx="1060704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18382E"/>
                </a:solidFill>
                <a:latin typeface="DejaVu Sans"/>
              </a:rPr>
              <a:t>Recorded outcomes inform later suggestions. Owner approval is not a completed sale.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A local, auditable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04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10881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7064"/>
                </a:solidFill>
                <a:latin typeface="DejaVu Sans"/>
              </a:rPr>
              <a:t>Deterministic prices, stock checks and final approval stay outside the language model.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624328"/>
            <a:ext cx="393192" cy="630936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743200" y="3767328"/>
            <a:ext cx="393192" cy="50292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77840" y="3511296"/>
            <a:ext cx="393192" cy="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412480" y="2624328"/>
            <a:ext cx="393192" cy="621792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3767328"/>
            <a:ext cx="393192" cy="502920"/>
          </a:xfrm>
          <a:prstGeom prst="line">
            <a:avLst/>
          </a:prstGeom>
          <a:ln w="19050">
            <a:solidFill>
              <a:srgbClr val="5270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1975104"/>
            <a:ext cx="219456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148840"/>
            <a:ext cx="18653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8382E"/>
                </a:solidFill>
                <a:latin typeface="DejaVu Sans"/>
              </a:rPr>
              <a:t>Inquiry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670048"/>
            <a:ext cx="1865376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Selected WhatsApp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text or manual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219456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94760"/>
            <a:ext cx="18653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8382E"/>
                </a:solidFill>
                <a:latin typeface="DejaVu Sans"/>
              </a:rPr>
              <a:t>Store workbook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315968"/>
            <a:ext cx="1865376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Products, stock, history,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delivery,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724912"/>
            <a:ext cx="2423160" cy="1581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2898648"/>
            <a:ext cx="20939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8382E"/>
                </a:solidFill>
                <a:latin typeface="DejaVu Sans"/>
              </a:rPr>
              <a:t>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419856"/>
            <a:ext cx="2093976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Chrome extension and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browser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724912"/>
            <a:ext cx="2423160" cy="1581912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898648"/>
            <a:ext cx="20939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BDEBD5"/>
                </a:solidFill>
                <a:latin typeface="DejaVu Sans"/>
              </a:rPr>
              <a:t>FastAPI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419856"/>
            <a:ext cx="2093976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FFFF"/>
                </a:solidFill>
                <a:latin typeface="DejaVu Sans"/>
              </a:rPr>
              <a:t>Parse, review, price,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FFFF"/>
                </a:solidFill>
                <a:latin typeface="DejaVu Sans"/>
              </a:rPr>
              <a:t>authenticate, approve.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975104"/>
            <a:ext cx="281635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2148840"/>
            <a:ext cx="2487168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8382E"/>
                </a:solidFill>
                <a:latin typeface="DejaVu Sans"/>
              </a:rPr>
              <a:t>SQLite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2670048"/>
            <a:ext cx="2487168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Quote versions, decisions,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activities and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621024"/>
            <a:ext cx="281635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3794760"/>
            <a:ext cx="2487168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8382E"/>
                </a:solidFill>
                <a:latin typeface="DejaVu Sans"/>
              </a:rPr>
              <a:t>Approved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4315968"/>
            <a:ext cx="2487168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PDF, Excel and checked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27064"/>
                </a:solidFill>
                <a:latin typeface="DejaVu Sans"/>
              </a:rPr>
              <a:t>customer reply.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85816"/>
            <a:ext cx="11091672" cy="704088"/>
          </a:xfrm>
          <a:prstGeom prst="roundRect">
            <a:avLst>
              <a:gd name="adj" fmla="val 8000"/>
            </a:avLst>
          </a:prstGeom>
          <a:solidFill>
            <a:srgbClr val="E5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59552"/>
            <a:ext cx="106070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8382E"/>
                </a:solidFill>
                <a:latin typeface="DejaVu Sans"/>
              </a:rPr>
              <a:t>Optional OpenAI structured extraction is implemented only for legacy catalog mode and is disabled by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8382E"/>
                </a:solidFill>
                <a:latin typeface="DejaVu Sans"/>
              </a:rPr>
              <a:t>default. Qwen is not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One inquiry. Clear numbers. Owner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05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0881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7064"/>
                </a:solidFill>
                <a:latin typeface="DejaVu Sans"/>
              </a:rPr>
              <a:t>20 bags of fast-setting cement, delivered to Shah Alam.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3557016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68880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7064"/>
                </a:solidFill>
                <a:latin typeface="DejaVu Sans"/>
              </a:rPr>
              <a:t>Original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62656"/>
            <a:ext cx="3136392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8382E"/>
                </a:solidFill>
                <a:latin typeface="DejaVu Sans"/>
              </a:rPr>
              <a:t>RM495.00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730752"/>
            <a:ext cx="313639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27064"/>
                </a:solidFill>
                <a:latin typeface="DejaVu Sans"/>
              </a:rPr>
              <a:t>RM460.00 goods + RM35.00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221992"/>
            <a:ext cx="3557016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7064"/>
                </a:solidFill>
                <a:latin typeface="DejaVu Sans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62656"/>
            <a:ext cx="3136392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8382E"/>
                </a:solidFill>
                <a:latin typeface="DejaVu Sans"/>
              </a:rPr>
              <a:t>RM471.20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730752"/>
            <a:ext cx="313639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27064"/>
                </a:solidFill>
                <a:latin typeface="DejaVu Sans"/>
              </a:rPr>
              <a:t>RM460.00 − RM13.80 + RM25.00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221992"/>
            <a:ext cx="3557016" cy="1956816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468880"/>
            <a:ext cx="313639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DEBD5"/>
                </a:solidFill>
                <a:latin typeface="DejaVu Sans"/>
              </a:rPr>
              <a:t>Owner-edited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962656"/>
            <a:ext cx="3136392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DejaVu Sans"/>
              </a:rPr>
              <a:t>RM471.60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30752"/>
            <a:ext cx="313639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BDEBD5"/>
                </a:solidFill>
                <a:latin typeface="DejaVu Sans"/>
              </a:rPr>
              <a:t>RM460.00 − RM18.40 + RM30.00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E5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700016"/>
            <a:ext cx="10607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82E"/>
                </a:solidFill>
                <a:latin typeface="DejaVu Sans"/>
              </a:rPr>
              <a:t>The owner changes the discount from 3% to 4% and sets delivery to RM30.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294376"/>
            <a:ext cx="10561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27064"/>
                </a:solidFill>
                <a:latin typeface="DejaVu Sans"/>
              </a:rPr>
              <a:t>The approved PDF, Excel and customer replies use the final approved amount. Pricing suggestions remain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27064"/>
                </a:solidFill>
                <a:latin typeface="DejaVu Sans"/>
              </a:rPr>
              <a:t>traceable.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80760"/>
            <a:ext cx="108813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27064"/>
                </a:solidFill>
                <a:latin typeface="DejaVu Sans"/>
              </a:rPr>
              <a:t>Fresh synthetic workbook: 20 × RM23.00; no payment or real customer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Engineering evidence and validation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06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527064"/>
                </a:solidFill>
                <a:latin typeface="DejaVu Sans"/>
              </a:rPr>
              <a:t>Real local services and browser requests; synthetic data and provider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2580894" cy="1572768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86584"/>
            <a:ext cx="2157984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DejaVu Sans"/>
              </a:rPr>
              <a:t>352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2157984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DEBD5"/>
                </a:solidFill>
                <a:latin typeface="DejaVu Sans"/>
              </a:rPr>
              <a:t>Backend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74720"/>
            <a:ext cx="215798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BDEBD5"/>
                </a:solidFill>
                <a:latin typeface="DejaVu Sans"/>
              </a:rPr>
              <a:t>1 warning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5566" y="2221992"/>
            <a:ext cx="258089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5878" y="2386584"/>
            <a:ext cx="2157984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8382E"/>
                </a:solidFill>
                <a:latin typeface="DejaVu San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878" y="3063240"/>
            <a:ext cx="2157984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8382E"/>
                </a:solidFill>
                <a:latin typeface="DejaVu Sans"/>
              </a:rPr>
              <a:t>Extension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878" y="3474720"/>
            <a:ext cx="215798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27064"/>
                </a:solidFill>
                <a:latin typeface="DejaVu Sans"/>
              </a:rPr>
              <a:t>Simulated Chrome 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2221992"/>
            <a:ext cx="258089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2804" y="2386584"/>
            <a:ext cx="2157984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8382E"/>
                </a:solidFill>
                <a:latin typeface="DejaVu San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2804" y="3063240"/>
            <a:ext cx="2157984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8382E"/>
                </a:solidFill>
                <a:latin typeface="DejaVu Sans"/>
              </a:rPr>
              <a:t>Browser smoke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2804" y="3474720"/>
            <a:ext cx="215798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27064"/>
                </a:solidFill>
                <a:latin typeface="DejaVu Sans"/>
              </a:rPr>
              <a:t>End-to-end local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9418" y="2221992"/>
            <a:ext cx="258089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9730" y="2386584"/>
            <a:ext cx="2157984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8382E"/>
                </a:solidFill>
                <a:latin typeface="DejaVu San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730" y="3063240"/>
            <a:ext cx="2157984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8382E"/>
                </a:solidFill>
                <a:latin typeface="DejaVu Sans"/>
              </a:rPr>
              <a:t>Business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9730" y="3474720"/>
            <a:ext cx="215798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27064"/>
                </a:solidFill>
                <a:latin typeface="DejaVu Sans"/>
              </a:rPr>
              <a:t>Local mobile gateway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05656"/>
            <a:ext cx="11091672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325112"/>
            <a:ext cx="1058875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82E"/>
                </a:solidFill>
                <a:latin typeface="DejaVu Sans"/>
              </a:rPr>
              <a:t>What these checks exercise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18888"/>
            <a:ext cx="10588752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7064"/>
                </a:solidFill>
                <a:latin typeface="DejaVu Sans"/>
              </a:rPr>
              <a:t>Quantity integrity, multilingual rules, stock and pricing limits, permissions, review binding, approvals,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7064"/>
                </a:solidFill>
                <a:latin typeface="DejaVu Sans"/>
              </a:rPr>
              <a:t>exports, outcomes, mobile links, and opt-in hosting origins and account initialization.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80760"/>
            <a:ext cx="10881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27064"/>
                </a:solidFill>
                <a:latin typeface="DejaVu Sans"/>
              </a:rPr>
              <a:t>Not yet verified: native WhatsApp integration, real API delivery, paid models, public hosting or clean Windows installation.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SDG alignment, grounded in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46504"/>
            <a:ext cx="3557016" cy="3621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3136392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8382E"/>
                </a:solidFill>
                <a:latin typeface="DejaVu Sans"/>
              </a:rPr>
              <a:t>8.2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07792"/>
            <a:ext cx="3136392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Productivity through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840480"/>
            <a:ext cx="3136392" cy="1271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Organize inquiry review,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business records and quotation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preparation in one repeatable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digital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46504"/>
            <a:ext cx="3557016" cy="3621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93392"/>
            <a:ext cx="3136392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8382E"/>
                </a:solidFill>
                <a:latin typeface="DejaVu Sans"/>
              </a:rPr>
              <a:t>8.3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07792"/>
            <a:ext cx="3136392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Support micro and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small firms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136392" cy="1271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Keep human ownership of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pricing while making records,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decisions and customer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outcomes easier to trace.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746504"/>
            <a:ext cx="3557016" cy="3621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93392"/>
            <a:ext cx="3136392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8382E"/>
                </a:solidFill>
                <a:latin typeface="DejaVu Sans"/>
              </a:rPr>
              <a:t>9.3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07792"/>
            <a:ext cx="3136392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Connect small firms to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840480"/>
            <a:ext cx="3136392" cy="1271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Consistent, documented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quotations may support buyer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and supplier relationships. No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527064"/>
                </a:solidFill>
                <a:latin typeface="DejaVu Sans"/>
              </a:rPr>
              <a:t>credit-access result is claimed.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50992"/>
            <a:ext cx="1088136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382E"/>
                </a:solidFill>
                <a:latin typeface="DejaVu Sans"/>
              </a:rPr>
              <a:t>This is qualitative alignment, not measured impact. No adoption, revenue, time-saving 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382E"/>
                </a:solidFill>
                <a:latin typeface="DejaVu Sans"/>
              </a:rPr>
              <a:t>environmental outcome is claimed.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7064"/>
                </a:solidFill>
                <a:latin typeface="DejaVu Sans"/>
              </a:rPr>
              <a:t>Targets: sdgs.un.org/goals/goal8  •  sdgs.un.org/goals/goal9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00584" cy="210312"/>
          </a:xfrm>
          <a:prstGeom prst="rect">
            <a:avLst/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9144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27064"/>
                </a:solidFill>
                <a:latin typeface="DejaVu Sans"/>
              </a:rPr>
              <a:t>EZQUOTE  /  SDC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82E"/>
                </a:solidFill>
                <a:latin typeface="DejaVu Sans"/>
              </a:rPr>
              <a:t>Local access today. Verified public links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6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9669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27064"/>
                </a:solidFill>
                <a:latin typeface="DejaVu Sans"/>
              </a:rPr>
              <a:t>EZQuote  |  Local, owner-approved quotation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5303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27064"/>
                </a:solidFill>
                <a:latin typeface="DejaVu Sans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09928"/>
            <a:ext cx="5486400" cy="4507992"/>
          </a:xfrm>
          <a:prstGeom prst="roundRect">
            <a:avLst>
              <a:gd name="adj" fmla="val 8000"/>
            </a:avLst>
          </a:prstGeom>
          <a:solidFill>
            <a:srgbClr val="12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75104"/>
            <a:ext cx="501091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DEBD5"/>
                </a:solidFill>
                <a:latin typeface="DejaVu Sans"/>
              </a:rPr>
              <a:t>SOURCE AND LOCAL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15184"/>
            <a:ext cx="5010912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ejaVu Sans"/>
              </a:rPr>
              <a:t>github.com/Dong-Wenhao/EZQuote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337560"/>
            <a:ext cx="5010912" cy="1737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DejaVu Sans"/>
              </a:rPr>
              <a:t>1. Install Python 3.10+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DejaVu Sans"/>
              </a:rPr>
              <a:t>2. Run: python run.py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DejaVu Sans"/>
              </a:rPr>
              <a:t>3. Load extension/ in Chrome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DejaVu Sans"/>
              </a:rPr>
              <a:t>4. Import samples/business_demo.xlsx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DejaVu Sans"/>
              </a:rPr>
              <a:t>5. Review, approve and export a 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532120"/>
            <a:ext cx="5010912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BDEBD5"/>
                </a:solidFill>
                <a:latin typeface="DejaVu Sans"/>
              </a:rPr>
              <a:t>Code: Apache 2.0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BDEBD5"/>
                </a:solidFill>
                <a:latin typeface="DejaVu Sans"/>
              </a:rPr>
              <a:t>Bundled font: SIL OFL 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09928"/>
            <a:ext cx="5385816" cy="4507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892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82E"/>
                </a:solidFill>
                <a:latin typeface="DejaVu Sans"/>
              </a:rPr>
              <a:t>Submission access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42616"/>
            <a:ext cx="48920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382E"/>
                </a:solidFill>
                <a:latin typeface="DejaVu Sans"/>
              </a:rPr>
              <a:t>Local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489204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27064"/>
                </a:solidFill>
                <a:latin typeface="DejaVu Sans"/>
              </a:rPr>
              <a:t>Validated with synthetic demonstration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01568"/>
            <a:ext cx="48920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382E"/>
                </a:solidFill>
                <a:latin typeface="DejaVu Sans"/>
              </a:rPr>
              <a:t>Hosted prototype and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30752"/>
            <a:ext cx="489204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27064"/>
                </a:solidFill>
                <a:latin typeface="DejaVu Sans"/>
              </a:rPr>
              <a:t>Public URL and YouTube link awaiting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8920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382E"/>
                </a:solidFill>
                <a:latin typeface="DejaVu Sans"/>
              </a:rPr>
              <a:t>Replit / RunPod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9704"/>
            <a:ext cx="489204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27064"/>
                </a:solidFill>
                <a:latin typeface="DejaVu Sans"/>
              </a:rPr>
              <a:t>Usage is not verified; no proof is asserted.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19472"/>
            <a:ext cx="48920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382E"/>
                </a:solidFill>
                <a:latin typeface="DejaVu Sans"/>
              </a:rPr>
              <a:t>Formal submission 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48656"/>
            <a:ext cx="489204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27064"/>
                </a:solidFill>
                <a:latin typeface="DejaVu Sans"/>
              </a:rPr>
              <a:t>Official form, eligibility and signatures require team input.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EZQuote — Owner-approved quotations</dc:title>
  <dc:subject>SDC 2026 project pitch: implemented local prototype and verification limits</dc:subject>
  <dc:creator>EZQuote project</dc:creator>
  <cp:keywords>EZQuote, quotations, building materials, human approval, SDC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