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92608"/>
            <a:ext cx="100584" cy="210312"/>
          </a:xfrm>
          <a:prstGeom prst="rect">
            <a:avLst/>
          </a:prstGeom>
          <a:solidFill>
            <a:srgbClr val="123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8096" y="310896"/>
            <a:ext cx="914400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527064"/>
                </a:solidFill>
                <a:latin typeface="DejaVu Sans"/>
              </a:rPr>
              <a:t>EZQUOTE  /  SDC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943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18382E"/>
                </a:solidFill>
                <a:latin typeface="DejaVu Sans"/>
              </a:rPr>
              <a:t>From a WhatsApp inquiry to an accountable quote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419088"/>
            <a:ext cx="11091672" cy="10972"/>
          </a:xfrm>
          <a:prstGeom prst="rect">
            <a:avLst/>
          </a:prstGeom>
          <a:solidFill>
            <a:srgbClr val="D6E5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547104"/>
            <a:ext cx="9966960" cy="17373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10" b="0">
                <a:solidFill>
                  <a:srgbClr val="527064"/>
                </a:solidFill>
                <a:latin typeface="DejaVu Sans"/>
              </a:rPr>
              <a:t>EZQuote  |  Local, owner-approved quotation prototype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528816"/>
            <a:ext cx="530352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527064"/>
                </a:solidFill>
                <a:latin typeface="DejaVu Sans"/>
              </a:rPr>
              <a:t>01 / 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508760"/>
            <a:ext cx="10881360" cy="53035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527064"/>
                </a:solidFill>
                <a:latin typeface="DejaVu Sans"/>
              </a:rPr>
              <a:t>For Malaysian micro and small building-materials and hardware retailers.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313432"/>
            <a:ext cx="3557016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8890">
            <a:solidFill>
              <a:srgbClr val="D6E5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8952" y="2532887"/>
            <a:ext cx="3136392" cy="640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8382E"/>
                </a:solidFill>
                <a:latin typeface="DejaVu Sans"/>
              </a:rPr>
              <a:t>Understand the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8382E"/>
                </a:solidFill>
                <a:latin typeface="DejaVu Sans"/>
              </a:rPr>
              <a:t>request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" y="3246120"/>
            <a:ext cx="3136392" cy="12070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20" b="0">
                <a:solidFill>
                  <a:srgbClr val="527064"/>
                </a:solidFill>
                <a:latin typeface="DejaVu Sans"/>
              </a:rPr>
              <a:t>Chinese, English and Malay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20" b="0">
                <a:solidFill>
                  <a:srgbClr val="527064"/>
                </a:solidFill>
                <a:latin typeface="DejaVu Sans"/>
              </a:rPr>
              <a:t>inquiries can mix products,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20" b="0">
                <a:solidFill>
                  <a:srgbClr val="527064"/>
                </a:solidFill>
                <a:latin typeface="DejaVu Sans"/>
              </a:rPr>
              <a:t>quantities, specifications and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20" b="0">
                <a:solidFill>
                  <a:srgbClr val="527064"/>
                </a:solidFill>
                <a:latin typeface="DejaVu Sans"/>
              </a:rPr>
              <a:t>delivery details.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15968" y="2313432"/>
            <a:ext cx="3557016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8890">
            <a:solidFill>
              <a:srgbClr val="D6E5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80" y="2532887"/>
            <a:ext cx="3136392" cy="640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8382E"/>
                </a:solidFill>
                <a:latin typeface="DejaVu Sans"/>
              </a:rPr>
              <a:t>Connect the records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6280" y="3246120"/>
            <a:ext cx="3136392" cy="12070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20" b="0">
                <a:solidFill>
                  <a:srgbClr val="527064"/>
                </a:solidFill>
                <a:latin typeface="DejaVu Sans"/>
              </a:rPr>
              <a:t>Catalog prices, stock, delivery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20" b="0">
                <a:solidFill>
                  <a:srgbClr val="527064"/>
                </a:solidFill>
                <a:latin typeface="DejaVu Sans"/>
              </a:rPr>
              <a:t>rules and past orders are often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20" b="0">
                <a:solidFill>
                  <a:srgbClr val="527064"/>
                </a:solidFill>
                <a:latin typeface="DejaVu Sans"/>
              </a:rPr>
              <a:t>checked across separate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20" b="0">
                <a:solidFill>
                  <a:srgbClr val="527064"/>
                </a:solidFill>
                <a:latin typeface="DejaVu Sans"/>
              </a:rPr>
              <a:t>records.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83296" y="2313432"/>
            <a:ext cx="3557016" cy="2286000"/>
          </a:xfrm>
          <a:prstGeom prst="roundRect">
            <a:avLst>
              <a:gd name="adj" fmla="val 8000"/>
            </a:avLst>
          </a:prstGeom>
          <a:solidFill>
            <a:srgbClr val="123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93608" y="2532887"/>
            <a:ext cx="3136392" cy="640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DejaVu Sans"/>
              </a:rPr>
              <a:t>Keep the owner in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DejaVu Sans"/>
              </a:rPr>
              <a:t>control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93608" y="3246120"/>
            <a:ext cx="3136392" cy="12070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20" b="0">
                <a:solidFill>
                  <a:srgbClr val="BDEBD5"/>
                </a:solidFill>
                <a:latin typeface="DejaVu Sans"/>
              </a:rPr>
              <a:t>A useful recommendation still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20" b="0">
                <a:solidFill>
                  <a:srgbClr val="BDEBD5"/>
                </a:solidFill>
                <a:latin typeface="DejaVu Sans"/>
              </a:rPr>
              <a:t>needs a person to verify the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20" b="0">
                <a:solidFill>
                  <a:srgbClr val="BDEBD5"/>
                </a:solidFill>
                <a:latin typeface="DejaVu Sans"/>
              </a:rPr>
              <a:t>source and approve the final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20" b="0">
                <a:solidFill>
                  <a:srgbClr val="BDEBD5"/>
                </a:solidFill>
                <a:latin typeface="DejaVu Sans"/>
              </a:rPr>
              <a:t>price.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919472"/>
            <a:ext cx="11091672" cy="1005840"/>
          </a:xfrm>
          <a:prstGeom prst="roundRect">
            <a:avLst>
              <a:gd name="adj" fmla="val 8000"/>
            </a:avLst>
          </a:prstGeom>
          <a:solidFill>
            <a:srgbClr val="E5F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86384" y="5120640"/>
            <a:ext cx="10607040" cy="6766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8382E"/>
                </a:solidFill>
                <a:latin typeface="DejaVu Sans"/>
              </a:rPr>
              <a:t>EZQuote brings the quote chain together — without automatic customer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8382E"/>
                </a:solidFill>
                <a:latin typeface="DejaVu Sans"/>
              </a:rPr>
              <a:t>sending or autonomous price approval.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92608"/>
            <a:ext cx="100584" cy="210312"/>
          </a:xfrm>
          <a:prstGeom prst="rect">
            <a:avLst/>
          </a:prstGeom>
          <a:solidFill>
            <a:srgbClr val="123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8096" y="310896"/>
            <a:ext cx="914400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527064"/>
                </a:solidFill>
                <a:latin typeface="DejaVu Sans"/>
              </a:rPr>
              <a:t>EZQUOTE  /  SDC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943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18382E"/>
                </a:solidFill>
                <a:latin typeface="DejaVu Sans"/>
              </a:rPr>
              <a:t>From inquiry to an approved quotation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419088"/>
            <a:ext cx="11091672" cy="10972"/>
          </a:xfrm>
          <a:prstGeom prst="rect">
            <a:avLst/>
          </a:prstGeom>
          <a:solidFill>
            <a:srgbClr val="D6E5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547104"/>
            <a:ext cx="9966960" cy="17373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10" b="0">
                <a:solidFill>
                  <a:srgbClr val="527064"/>
                </a:solidFill>
                <a:latin typeface="DejaVu Sans"/>
              </a:rPr>
              <a:t>EZQuote  |  Local, owner-approved quotation prototype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528816"/>
            <a:ext cx="530352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527064"/>
                </a:solidFill>
                <a:latin typeface="DejaVu Sans"/>
              </a:rPr>
              <a:t>02 / 08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691640"/>
            <a:ext cx="3246120" cy="131673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8890">
            <a:solidFill>
              <a:srgbClr val="D6E5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1874520"/>
            <a:ext cx="2843784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8382E"/>
                </a:solidFill>
                <a:latin typeface="DejaVu Sans"/>
              </a:rPr>
              <a:t>Review the inquiry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322576"/>
            <a:ext cx="2843784" cy="5577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30" b="0">
                <a:solidFill>
                  <a:srgbClr val="527064"/>
                </a:solidFill>
                <a:latin typeface="DejaVu Sans"/>
              </a:rPr>
              <a:t>Check the source, matched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30" b="0">
                <a:solidFill>
                  <a:srgbClr val="527064"/>
                </a:solidFill>
                <a:latin typeface="DejaVu Sans"/>
              </a:rPr>
              <a:t>items, quantities and delivery.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163824"/>
            <a:ext cx="3246120" cy="131673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8890">
            <a:solidFill>
              <a:srgbClr val="D6E5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3346704"/>
            <a:ext cx="2843784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8382E"/>
                </a:solidFill>
                <a:latin typeface="DejaVu Sans"/>
              </a:rPr>
              <a:t>Use connected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3794760"/>
            <a:ext cx="2843784" cy="5577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30" b="0">
                <a:solidFill>
                  <a:srgbClr val="527064"/>
                </a:solidFill>
                <a:latin typeface="DejaVu Sans"/>
              </a:rPr>
              <a:t>Import the store workbook; keep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30" b="0">
                <a:solidFill>
                  <a:srgbClr val="527064"/>
                </a:solidFill>
                <a:latin typeface="DejaVu Sans"/>
              </a:rPr>
              <a:t>prices and stock checks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30" b="0">
                <a:solidFill>
                  <a:srgbClr val="527064"/>
                </a:solidFill>
                <a:latin typeface="DejaVu Sans"/>
              </a:rPr>
              <a:t>deterministic.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636008"/>
            <a:ext cx="3246120" cy="131673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8890">
            <a:solidFill>
              <a:srgbClr val="D6E5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4818888"/>
            <a:ext cx="2843784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8382E"/>
                </a:solidFill>
                <a:latin typeface="DejaVu Sans"/>
              </a:rPr>
              <a:t>Approve and export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5266944"/>
            <a:ext cx="2843784" cy="5577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30" b="0">
                <a:solidFill>
                  <a:srgbClr val="527064"/>
                </a:solidFill>
                <a:latin typeface="DejaVu Sans"/>
              </a:rPr>
              <a:t>Owner approves. Staff prepare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30" b="0">
                <a:solidFill>
                  <a:srgbClr val="527064"/>
                </a:solidFill>
                <a:latin typeface="DejaVu Sans"/>
              </a:rPr>
              <a:t>files and replies, then record the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30" b="0">
                <a:solidFill>
                  <a:srgbClr val="527064"/>
                </a:solidFill>
                <a:latin typeface="DejaVu Sans"/>
              </a:rPr>
              <a:t>outcome.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023360" y="1691640"/>
            <a:ext cx="7616952" cy="4389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8890">
            <a:solidFill>
              <a:srgbClr val="D6E5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demo-screen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1948" y="1810512"/>
            <a:ext cx="5299774" cy="4133087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096512" y="6144768"/>
            <a:ext cx="7452360" cy="17373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19" b="0">
                <a:solidFill>
                  <a:srgbClr val="527064"/>
                </a:solidFill>
                <a:latin typeface="DejaVu Sans"/>
              </a:rPr>
              <a:t>Actual local interface with synthetic demonstration data.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92608"/>
            <a:ext cx="100584" cy="210312"/>
          </a:xfrm>
          <a:prstGeom prst="rect">
            <a:avLst/>
          </a:prstGeom>
          <a:solidFill>
            <a:srgbClr val="123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8096" y="310896"/>
            <a:ext cx="914400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527064"/>
                </a:solidFill>
                <a:latin typeface="DejaVu Sans"/>
              </a:rPr>
              <a:t>EZQUOTE  /  SDC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943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18382E"/>
                </a:solidFill>
                <a:latin typeface="DejaVu Sans"/>
              </a:rPr>
              <a:t>Human-in-the-loop by design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419088"/>
            <a:ext cx="11091672" cy="10972"/>
          </a:xfrm>
          <a:prstGeom prst="rect">
            <a:avLst/>
          </a:prstGeom>
          <a:solidFill>
            <a:srgbClr val="D6E5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547104"/>
            <a:ext cx="9966960" cy="17373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10" b="0">
                <a:solidFill>
                  <a:srgbClr val="527064"/>
                </a:solidFill>
                <a:latin typeface="DejaVu Sans"/>
              </a:rPr>
              <a:t>EZQuote  |  Local, owner-approved quotation prototype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528816"/>
            <a:ext cx="530352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527064"/>
                </a:solidFill>
                <a:latin typeface="DejaVu Sans"/>
              </a:rPr>
              <a:t>03 / 08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105656" y="2468880"/>
            <a:ext cx="192024" cy="0"/>
          </a:xfrm>
          <a:prstGeom prst="line">
            <a:avLst/>
          </a:prstGeom>
          <a:ln w="19050">
            <a:solidFill>
              <a:srgbClr val="527064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872983" y="2468880"/>
            <a:ext cx="192025" cy="0"/>
          </a:xfrm>
          <a:prstGeom prst="line">
            <a:avLst/>
          </a:prstGeom>
          <a:ln w="19050">
            <a:solidFill>
              <a:srgbClr val="527064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9861804" y="3209544"/>
            <a:ext cx="0" cy="429768"/>
          </a:xfrm>
          <a:prstGeom prst="line">
            <a:avLst/>
          </a:prstGeom>
          <a:ln w="19050">
            <a:solidFill>
              <a:srgbClr val="527064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>
            <a:off x="7891272" y="4389120"/>
            <a:ext cx="173736" cy="0"/>
          </a:xfrm>
          <a:prstGeom prst="line">
            <a:avLst/>
          </a:prstGeom>
          <a:ln w="19050">
            <a:solidFill>
              <a:srgbClr val="527064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4123944" y="4389120"/>
            <a:ext cx="173736" cy="0"/>
          </a:xfrm>
          <a:prstGeom prst="line">
            <a:avLst/>
          </a:prstGeom>
          <a:ln w="19050">
            <a:solidFill>
              <a:srgbClr val="527064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48640" y="1737360"/>
            <a:ext cx="3557016" cy="14721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8890">
            <a:solidFill>
              <a:srgbClr val="D6E5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8952" y="1947672"/>
            <a:ext cx="3136392" cy="33832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8382E"/>
                </a:solidFill>
                <a:latin typeface="DejaVu Sans"/>
              </a:rPr>
              <a:t>01  TRIGGER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8952" y="2459736"/>
            <a:ext cx="3136392" cy="5943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7064"/>
                </a:solidFill>
                <a:latin typeface="DejaVu Sans"/>
              </a:rPr>
              <a:t>Selected WhatsApp inquiry or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7064"/>
                </a:solidFill>
                <a:latin typeface="DejaVu Sans"/>
              </a:rPr>
              <a:t>pasted text.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15968" y="1737360"/>
            <a:ext cx="3557016" cy="14721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8890">
            <a:solidFill>
              <a:srgbClr val="D6E5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26280" y="1947672"/>
            <a:ext cx="3136392" cy="33832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8382E"/>
                </a:solidFill>
                <a:latin typeface="DejaVu Sans"/>
              </a:rPr>
              <a:t>02  CONNECTED DATA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80" y="2459736"/>
            <a:ext cx="3136392" cy="5943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7064"/>
                </a:solidFill>
                <a:latin typeface="DejaVu Sans"/>
              </a:rPr>
              <a:t>Store products, stock, history,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7064"/>
                </a:solidFill>
                <a:latin typeface="DejaVu Sans"/>
              </a:rPr>
              <a:t>delivery and rules.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83296" y="1737360"/>
            <a:ext cx="3557016" cy="14721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8890">
            <a:solidFill>
              <a:srgbClr val="D6E5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93608" y="1947672"/>
            <a:ext cx="3136392" cy="33832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8382E"/>
                </a:solidFill>
                <a:latin typeface="DejaVu Sans"/>
              </a:rPr>
              <a:t>03  DECISION LOGIC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93608" y="2459736"/>
            <a:ext cx="3136392" cy="5943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7064"/>
                </a:solidFill>
                <a:latin typeface="DejaVu Sans"/>
              </a:rPr>
              <a:t>Local parsing, matching, pricing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7064"/>
                </a:solidFill>
                <a:latin typeface="DejaVu Sans"/>
              </a:rPr>
              <a:t>and review checks.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83296" y="3657600"/>
            <a:ext cx="3557016" cy="1472184"/>
          </a:xfrm>
          <a:prstGeom prst="roundRect">
            <a:avLst>
              <a:gd name="adj" fmla="val 8000"/>
            </a:avLst>
          </a:prstGeom>
          <a:solidFill>
            <a:srgbClr val="123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93608" y="3867912"/>
            <a:ext cx="3136392" cy="33832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BDEBD5"/>
                </a:solidFill>
                <a:latin typeface="DejaVu Sans"/>
              </a:rPr>
              <a:t>04  HUMAN APPROVAL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93608" y="4379976"/>
            <a:ext cx="3136392" cy="5943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DejaVu Sans"/>
              </a:rPr>
              <a:t>Staff verify; the owner accepts or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DejaVu Sans"/>
              </a:rPr>
              <a:t>edits the final price.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15968" y="3657600"/>
            <a:ext cx="3557016" cy="14721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8890">
            <a:solidFill>
              <a:srgbClr val="D6E5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26280" y="3867912"/>
            <a:ext cx="3136392" cy="33832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8382E"/>
                </a:solidFill>
                <a:latin typeface="DejaVu Sans"/>
              </a:rPr>
              <a:t>05  VISIBLE OUTPUT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26280" y="4379976"/>
            <a:ext cx="3136392" cy="5943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7064"/>
                </a:solidFill>
                <a:latin typeface="DejaVu Sans"/>
              </a:rPr>
              <a:t>Approved PDF, Excel and a reply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7064"/>
                </a:solidFill>
                <a:latin typeface="DejaVu Sans"/>
              </a:rPr>
              <a:t>checked before sending.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3657600"/>
            <a:ext cx="3557016" cy="14721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8890">
            <a:solidFill>
              <a:srgbClr val="D6E5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58952" y="3867912"/>
            <a:ext cx="3136392" cy="33832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8382E"/>
                </a:solidFill>
                <a:latin typeface="DejaVu Sans"/>
              </a:rPr>
              <a:t>06  ACTIVITY LOG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8952" y="4379976"/>
            <a:ext cx="3136392" cy="5943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7064"/>
                </a:solidFill>
                <a:latin typeface="DejaVu Sans"/>
              </a:rPr>
              <a:t>Record revisions, decisions and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7064"/>
                </a:solidFill>
                <a:latin typeface="DejaVu Sans"/>
              </a:rPr>
              <a:t>the customer outcome.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8640" y="5413248"/>
            <a:ext cx="11091672" cy="621792"/>
          </a:xfrm>
          <a:prstGeom prst="roundRect">
            <a:avLst>
              <a:gd name="adj" fmla="val 8000"/>
            </a:avLst>
          </a:prstGeom>
          <a:solidFill>
            <a:srgbClr val="E5F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86384" y="5596128"/>
            <a:ext cx="10607040" cy="24688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40" b="1">
                <a:solidFill>
                  <a:srgbClr val="18382E"/>
                </a:solidFill>
                <a:latin typeface="DejaVu Sans"/>
              </a:rPr>
              <a:t>Recorded outcomes inform later suggestions. Owner approval is not a completed sale.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92608"/>
            <a:ext cx="100584" cy="210312"/>
          </a:xfrm>
          <a:prstGeom prst="rect">
            <a:avLst/>
          </a:prstGeom>
          <a:solidFill>
            <a:srgbClr val="123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8096" y="310896"/>
            <a:ext cx="914400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527064"/>
                </a:solidFill>
                <a:latin typeface="DejaVu Sans"/>
              </a:rPr>
              <a:t>EZQUOTE  /  SDC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943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18382E"/>
                </a:solidFill>
                <a:latin typeface="DejaVu Sans"/>
              </a:rPr>
              <a:t>A local, auditable architecture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419088"/>
            <a:ext cx="11091672" cy="10972"/>
          </a:xfrm>
          <a:prstGeom prst="rect">
            <a:avLst/>
          </a:prstGeom>
          <a:solidFill>
            <a:srgbClr val="D6E5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547104"/>
            <a:ext cx="9966960" cy="17373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10" b="0">
                <a:solidFill>
                  <a:srgbClr val="527064"/>
                </a:solidFill>
                <a:latin typeface="DejaVu Sans"/>
              </a:rPr>
              <a:t>EZQuote  |  Local, owner-approved quotation prototype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528816"/>
            <a:ext cx="530352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527064"/>
                </a:solidFill>
                <a:latin typeface="DejaVu Sans"/>
              </a:rPr>
              <a:t>04 / 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527048"/>
            <a:ext cx="10881360" cy="31089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27064"/>
                </a:solidFill>
                <a:latin typeface="DejaVu Sans"/>
              </a:rPr>
              <a:t>Deterministic prices, stock checks and final approval stay outside the language model.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743200" y="2624328"/>
            <a:ext cx="393192" cy="630936"/>
          </a:xfrm>
          <a:prstGeom prst="line">
            <a:avLst/>
          </a:prstGeom>
          <a:ln w="19050">
            <a:solidFill>
              <a:srgbClr val="527064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2743200" y="3767328"/>
            <a:ext cx="393192" cy="502920"/>
          </a:xfrm>
          <a:prstGeom prst="line">
            <a:avLst/>
          </a:prstGeom>
          <a:ln w="19050">
            <a:solidFill>
              <a:srgbClr val="527064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5577840" y="3511296"/>
            <a:ext cx="393192" cy="0"/>
          </a:xfrm>
          <a:prstGeom prst="line">
            <a:avLst/>
          </a:prstGeom>
          <a:ln w="19050">
            <a:solidFill>
              <a:srgbClr val="527064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8412480" y="2624328"/>
            <a:ext cx="393192" cy="621792"/>
          </a:xfrm>
          <a:prstGeom prst="line">
            <a:avLst/>
          </a:prstGeom>
          <a:ln w="19050">
            <a:solidFill>
              <a:srgbClr val="527064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8412480" y="3767328"/>
            <a:ext cx="393192" cy="502920"/>
          </a:xfrm>
          <a:prstGeom prst="line">
            <a:avLst/>
          </a:prstGeom>
          <a:ln w="19050">
            <a:solidFill>
              <a:srgbClr val="527064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548640" y="1975104"/>
            <a:ext cx="2194560" cy="13075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8890">
            <a:solidFill>
              <a:srgbClr val="D6E5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3232" y="2148840"/>
            <a:ext cx="1865376" cy="33832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80" b="1">
                <a:solidFill>
                  <a:srgbClr val="18382E"/>
                </a:solidFill>
                <a:latin typeface="DejaVu Sans"/>
              </a:rPr>
              <a:t>Inquiry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2670048"/>
            <a:ext cx="1865376" cy="50291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20" b="0">
                <a:solidFill>
                  <a:srgbClr val="527064"/>
                </a:solidFill>
                <a:latin typeface="DejaVu Sans"/>
              </a:rPr>
              <a:t>Selected WhatsApp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20" b="0">
                <a:solidFill>
                  <a:srgbClr val="527064"/>
                </a:solidFill>
                <a:latin typeface="DejaVu Sans"/>
              </a:rPr>
              <a:t>text or manual input.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621024"/>
            <a:ext cx="2194560" cy="13075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8890">
            <a:solidFill>
              <a:srgbClr val="D6E5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3232" y="3794760"/>
            <a:ext cx="1865376" cy="33832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80" b="1">
                <a:solidFill>
                  <a:srgbClr val="18382E"/>
                </a:solidFill>
                <a:latin typeface="DejaVu Sans"/>
              </a:rPr>
              <a:t>Store workbook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" y="4315968"/>
            <a:ext cx="1865376" cy="50291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20" b="0">
                <a:solidFill>
                  <a:srgbClr val="527064"/>
                </a:solidFill>
                <a:latin typeface="DejaVu Sans"/>
              </a:rPr>
              <a:t>Products, stock, history,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20" b="0">
                <a:solidFill>
                  <a:srgbClr val="527064"/>
                </a:solidFill>
                <a:latin typeface="DejaVu Sans"/>
              </a:rPr>
              <a:t>delivery, rules.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154680" y="2724912"/>
            <a:ext cx="2423160" cy="15819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8890">
            <a:solidFill>
              <a:srgbClr val="D6E5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19272" y="2898648"/>
            <a:ext cx="2093976" cy="33832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80" b="1">
                <a:solidFill>
                  <a:srgbClr val="18382E"/>
                </a:solidFill>
                <a:latin typeface="DejaVu Sans"/>
              </a:rPr>
              <a:t>Workspace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19272" y="3419856"/>
            <a:ext cx="2093976" cy="7772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20" b="0">
                <a:solidFill>
                  <a:srgbClr val="527064"/>
                </a:solidFill>
                <a:latin typeface="DejaVu Sans"/>
              </a:rPr>
              <a:t>Chrome extension and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20" b="0">
                <a:solidFill>
                  <a:srgbClr val="527064"/>
                </a:solidFill>
                <a:latin typeface="DejaVu Sans"/>
              </a:rPr>
              <a:t>browser interface.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89320" y="2724912"/>
            <a:ext cx="2423160" cy="1581912"/>
          </a:xfrm>
          <a:prstGeom prst="roundRect">
            <a:avLst>
              <a:gd name="adj" fmla="val 8000"/>
            </a:avLst>
          </a:prstGeom>
          <a:solidFill>
            <a:srgbClr val="123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53912" y="2898648"/>
            <a:ext cx="2093976" cy="33832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80" b="1">
                <a:solidFill>
                  <a:srgbClr val="BDEBD5"/>
                </a:solidFill>
                <a:latin typeface="DejaVu Sans"/>
              </a:rPr>
              <a:t>FastAPI backend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53912" y="3419856"/>
            <a:ext cx="2093976" cy="7772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20" b="0">
                <a:solidFill>
                  <a:srgbClr val="FFFFFF"/>
                </a:solidFill>
                <a:latin typeface="DejaVu Sans"/>
              </a:rPr>
              <a:t>Parse, review, price,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20" b="0">
                <a:solidFill>
                  <a:srgbClr val="FFFFFF"/>
                </a:solidFill>
                <a:latin typeface="DejaVu Sans"/>
              </a:rPr>
              <a:t>authenticate, approve.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823960" y="1975104"/>
            <a:ext cx="2816352" cy="13075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8890">
            <a:solidFill>
              <a:srgbClr val="D6E5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988552" y="2148840"/>
            <a:ext cx="2487168" cy="33832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80" b="1">
                <a:solidFill>
                  <a:srgbClr val="18382E"/>
                </a:solidFill>
                <a:latin typeface="DejaVu Sans"/>
              </a:rPr>
              <a:t>SQLite records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88552" y="2670048"/>
            <a:ext cx="2487168" cy="50291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20" b="0">
                <a:solidFill>
                  <a:srgbClr val="527064"/>
                </a:solidFill>
                <a:latin typeface="DejaVu Sans"/>
              </a:rPr>
              <a:t>Quote versions, decisions,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20" b="0">
                <a:solidFill>
                  <a:srgbClr val="527064"/>
                </a:solidFill>
                <a:latin typeface="DejaVu Sans"/>
              </a:rPr>
              <a:t>activities and outcomes.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823960" y="3621024"/>
            <a:ext cx="2816352" cy="13075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8890">
            <a:solidFill>
              <a:srgbClr val="D6E5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988552" y="3794760"/>
            <a:ext cx="2487168" cy="33832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80" b="1">
                <a:solidFill>
                  <a:srgbClr val="18382E"/>
                </a:solidFill>
                <a:latin typeface="DejaVu Sans"/>
              </a:rPr>
              <a:t>Approved output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988552" y="4315968"/>
            <a:ext cx="2487168" cy="50291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20" b="0">
                <a:solidFill>
                  <a:srgbClr val="527064"/>
                </a:solidFill>
                <a:latin typeface="DejaVu Sans"/>
              </a:rPr>
              <a:t>PDF, Excel and checked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20" b="0">
                <a:solidFill>
                  <a:srgbClr val="527064"/>
                </a:solidFill>
                <a:latin typeface="DejaVu Sans"/>
              </a:rPr>
              <a:t>customer reply.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48640" y="5385816"/>
            <a:ext cx="11091672" cy="704088"/>
          </a:xfrm>
          <a:prstGeom prst="roundRect">
            <a:avLst>
              <a:gd name="adj" fmla="val 8000"/>
            </a:avLst>
          </a:prstGeom>
          <a:solidFill>
            <a:srgbClr val="E5F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86384" y="5559552"/>
            <a:ext cx="10607040" cy="40233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40" b="1">
                <a:solidFill>
                  <a:srgbClr val="18382E"/>
                </a:solidFill>
                <a:latin typeface="DejaVu Sans"/>
              </a:rPr>
              <a:t>Optional OpenAI structured extraction is implemented only for legacy catalog mode and is disabled by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40" b="1">
                <a:solidFill>
                  <a:srgbClr val="18382E"/>
                </a:solidFill>
                <a:latin typeface="DejaVu Sans"/>
              </a:rPr>
              <a:t>default. Qwen is not implemented.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92608"/>
            <a:ext cx="100584" cy="210312"/>
          </a:xfrm>
          <a:prstGeom prst="rect">
            <a:avLst/>
          </a:prstGeom>
          <a:solidFill>
            <a:srgbClr val="123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8096" y="310896"/>
            <a:ext cx="914400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527064"/>
                </a:solidFill>
                <a:latin typeface="DejaVu Sans"/>
              </a:rPr>
              <a:t>EZQUOTE  /  SDC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943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18382E"/>
                </a:solidFill>
                <a:latin typeface="DejaVu Sans"/>
              </a:rPr>
              <a:t>One inquiry. Clear numbers. Owner approval.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419088"/>
            <a:ext cx="11091672" cy="10972"/>
          </a:xfrm>
          <a:prstGeom prst="rect">
            <a:avLst/>
          </a:prstGeom>
          <a:solidFill>
            <a:srgbClr val="D6E5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547104"/>
            <a:ext cx="9966960" cy="17373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10" b="0">
                <a:solidFill>
                  <a:srgbClr val="527064"/>
                </a:solidFill>
                <a:latin typeface="DejaVu Sans"/>
              </a:rPr>
              <a:t>EZQuote  |  Local, owner-approved quotation prototype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528816"/>
            <a:ext cx="530352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527064"/>
                </a:solidFill>
                <a:latin typeface="DejaVu Sans"/>
              </a:rPr>
              <a:t>05 / 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554480"/>
            <a:ext cx="10881360" cy="4114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527064"/>
                </a:solidFill>
                <a:latin typeface="DejaVu Sans"/>
              </a:rPr>
              <a:t>20 bags of fast-setting cement, delivered to Shah Alam.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221992"/>
            <a:ext cx="3557016" cy="19568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8890">
            <a:solidFill>
              <a:srgbClr val="D6E5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8952" y="2468880"/>
            <a:ext cx="3136392" cy="33832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527064"/>
                </a:solidFill>
                <a:latin typeface="DejaVu Sans"/>
              </a:rPr>
              <a:t>Original total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" y="2962656"/>
            <a:ext cx="3136392" cy="5577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18382E"/>
                </a:solidFill>
                <a:latin typeface="DejaVu Sans"/>
              </a:rPr>
              <a:t>RM495.00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52" y="3730752"/>
            <a:ext cx="3136392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60" b="0">
                <a:solidFill>
                  <a:srgbClr val="527064"/>
                </a:solidFill>
                <a:latin typeface="DejaVu Sans"/>
              </a:rPr>
              <a:t>RM460.00 goods + RM35.00 delivery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15968" y="2221992"/>
            <a:ext cx="3557016" cy="19568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8890">
            <a:solidFill>
              <a:srgbClr val="D6E5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26280" y="2468880"/>
            <a:ext cx="3136392" cy="33832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527064"/>
                </a:solidFill>
                <a:latin typeface="DejaVu Sans"/>
              </a:rPr>
              <a:t>Recommendation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6280" y="2962656"/>
            <a:ext cx="3136392" cy="5577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18382E"/>
                </a:solidFill>
                <a:latin typeface="DejaVu Sans"/>
              </a:rPr>
              <a:t>RM471.20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26280" y="3730752"/>
            <a:ext cx="3136392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60" b="0">
                <a:solidFill>
                  <a:srgbClr val="527064"/>
                </a:solidFill>
                <a:latin typeface="DejaVu Sans"/>
              </a:rPr>
              <a:t>RM460.00 − RM13.80 + RM25.00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83296" y="2221992"/>
            <a:ext cx="3557016" cy="1956816"/>
          </a:xfrm>
          <a:prstGeom prst="roundRect">
            <a:avLst>
              <a:gd name="adj" fmla="val 8000"/>
            </a:avLst>
          </a:prstGeom>
          <a:solidFill>
            <a:srgbClr val="123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93608" y="2468880"/>
            <a:ext cx="3136392" cy="33832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BDEBD5"/>
                </a:solidFill>
                <a:latin typeface="DejaVu Sans"/>
              </a:rPr>
              <a:t>Owner-edited approval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93608" y="2962656"/>
            <a:ext cx="3136392" cy="5577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FFFFFF"/>
                </a:solidFill>
                <a:latin typeface="DejaVu Sans"/>
              </a:rPr>
              <a:t>RM471.60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93608" y="3730752"/>
            <a:ext cx="3136392" cy="237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60" b="0">
                <a:solidFill>
                  <a:srgbClr val="BDEBD5"/>
                </a:solidFill>
                <a:latin typeface="DejaVu Sans"/>
              </a:rPr>
              <a:t>RM460.00 − RM18.40 + RM30.00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480560"/>
            <a:ext cx="11091672" cy="1371600"/>
          </a:xfrm>
          <a:prstGeom prst="roundRect">
            <a:avLst>
              <a:gd name="adj" fmla="val 8000"/>
            </a:avLst>
          </a:prstGeom>
          <a:solidFill>
            <a:srgbClr val="E5F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6384" y="4700016"/>
            <a:ext cx="10607040" cy="3657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8382E"/>
                </a:solidFill>
                <a:latin typeface="DejaVu Sans"/>
              </a:rPr>
              <a:t>The owner changes the discount from 3% to 4% and sets delivery to RM30.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384" y="5294376"/>
            <a:ext cx="10561320" cy="502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80" b="0">
                <a:solidFill>
                  <a:srgbClr val="527064"/>
                </a:solidFill>
                <a:latin typeface="DejaVu Sans"/>
              </a:rPr>
              <a:t>The approved PDF, Excel and customer replies use the final approved amount. Pricing suggestions remain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80" b="0">
                <a:solidFill>
                  <a:srgbClr val="527064"/>
                </a:solidFill>
                <a:latin typeface="DejaVu Sans"/>
              </a:rPr>
              <a:t>traceable.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6080760"/>
            <a:ext cx="1088136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40" b="0">
                <a:solidFill>
                  <a:srgbClr val="527064"/>
                </a:solidFill>
                <a:latin typeface="DejaVu Sans"/>
              </a:rPr>
              <a:t>Fresh synthetic workbook: 20 × RM23.00; no payment or real customer transaction.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92608"/>
            <a:ext cx="100584" cy="210312"/>
          </a:xfrm>
          <a:prstGeom prst="rect">
            <a:avLst/>
          </a:prstGeom>
          <a:solidFill>
            <a:srgbClr val="123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8096" y="310896"/>
            <a:ext cx="914400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527064"/>
                </a:solidFill>
                <a:latin typeface="DejaVu Sans"/>
              </a:rPr>
              <a:t>EZQUOTE  /  SDC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943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18382E"/>
                </a:solidFill>
                <a:latin typeface="DejaVu Sans"/>
              </a:rPr>
              <a:t>Engineering evidence and validation limits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419088"/>
            <a:ext cx="11091672" cy="10972"/>
          </a:xfrm>
          <a:prstGeom prst="rect">
            <a:avLst/>
          </a:prstGeom>
          <a:solidFill>
            <a:srgbClr val="D6E5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547104"/>
            <a:ext cx="9966960" cy="17373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10" b="0">
                <a:solidFill>
                  <a:srgbClr val="527064"/>
                </a:solidFill>
                <a:latin typeface="DejaVu Sans"/>
              </a:rPr>
              <a:t>EZQuote  |  Local, owner-approved quotation prototype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528816"/>
            <a:ext cx="530352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527064"/>
                </a:solidFill>
                <a:latin typeface="DejaVu Sans"/>
              </a:rPr>
              <a:t>06 / 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527048"/>
            <a:ext cx="10881360" cy="3840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80" b="0">
                <a:solidFill>
                  <a:srgbClr val="527064"/>
                </a:solidFill>
                <a:latin typeface="DejaVu Sans"/>
              </a:rPr>
              <a:t>Real local services and browser requests; synthetic data and provider responses.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221992"/>
            <a:ext cx="2580894" cy="1572768"/>
          </a:xfrm>
          <a:prstGeom prst="roundRect">
            <a:avLst>
              <a:gd name="adj" fmla="val 8000"/>
            </a:avLst>
          </a:prstGeom>
          <a:solidFill>
            <a:srgbClr val="123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8952" y="2386584"/>
            <a:ext cx="2157984" cy="5943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FFFFFF"/>
                </a:solidFill>
                <a:latin typeface="DejaVu Sans"/>
              </a:rPr>
              <a:t>331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" y="3063240"/>
            <a:ext cx="2157984" cy="2651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20" b="1">
                <a:solidFill>
                  <a:srgbClr val="BDEBD5"/>
                </a:solidFill>
                <a:latin typeface="DejaVu Sans"/>
              </a:rPr>
              <a:t>Backend tests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52" y="3474720"/>
            <a:ext cx="2157984" cy="17373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69" b="0">
                <a:solidFill>
                  <a:srgbClr val="BDEBD5"/>
                </a:solidFill>
                <a:latin typeface="DejaVu Sans"/>
              </a:rPr>
              <a:t>1 warning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85566" y="2221992"/>
            <a:ext cx="2580894" cy="15727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8890">
            <a:solidFill>
              <a:srgbClr val="D6E5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95878" y="2386584"/>
            <a:ext cx="2157984" cy="5943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18382E"/>
                </a:solidFill>
                <a:latin typeface="DejaVu Sans"/>
              </a:rPr>
              <a:t>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95878" y="3063240"/>
            <a:ext cx="2157984" cy="2651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20" b="1">
                <a:solidFill>
                  <a:srgbClr val="18382E"/>
                </a:solidFill>
                <a:latin typeface="DejaVu Sans"/>
              </a:rPr>
              <a:t>Extension checks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95878" y="3474720"/>
            <a:ext cx="2157984" cy="17373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69" b="0">
                <a:solidFill>
                  <a:srgbClr val="527064"/>
                </a:solidFill>
                <a:latin typeface="DejaVu Sans"/>
              </a:rPr>
              <a:t>Simulated Chrome APIs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22492" y="2221992"/>
            <a:ext cx="2580894" cy="15727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8890">
            <a:solidFill>
              <a:srgbClr val="D6E5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32804" y="2386584"/>
            <a:ext cx="2157984" cy="5943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18382E"/>
                </a:solidFill>
                <a:latin typeface="DejaVu Sans"/>
              </a:rPr>
              <a:t>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32804" y="3063240"/>
            <a:ext cx="2157984" cy="2651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20" b="1">
                <a:solidFill>
                  <a:srgbClr val="18382E"/>
                </a:solidFill>
                <a:latin typeface="DejaVu Sans"/>
              </a:rPr>
              <a:t>Browser smoke groups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32804" y="3474720"/>
            <a:ext cx="2157984" cy="17373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69" b="0">
                <a:solidFill>
                  <a:srgbClr val="527064"/>
                </a:solidFill>
                <a:latin typeface="DejaVu Sans"/>
              </a:rPr>
              <a:t>End-to-end local workflow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59418" y="2221992"/>
            <a:ext cx="2580894" cy="15727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8890">
            <a:solidFill>
              <a:srgbClr val="D6E5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69730" y="2386584"/>
            <a:ext cx="2157984" cy="5943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18382E"/>
                </a:solidFill>
                <a:latin typeface="DejaVu Sans"/>
              </a:rPr>
              <a:t>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69730" y="3063240"/>
            <a:ext cx="2157984" cy="2651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20" b="1">
                <a:solidFill>
                  <a:srgbClr val="18382E"/>
                </a:solidFill>
                <a:latin typeface="DejaVu Sans"/>
              </a:rPr>
              <a:t>Business groups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69730" y="3474720"/>
            <a:ext cx="2157984" cy="17373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69" b="0">
                <a:solidFill>
                  <a:srgbClr val="527064"/>
                </a:solidFill>
                <a:latin typeface="DejaVu Sans"/>
              </a:rPr>
              <a:t>Local mobile gateway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4105656"/>
            <a:ext cx="11091672" cy="179222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8890">
            <a:solidFill>
              <a:srgbClr val="D6E5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5528" y="4325112"/>
            <a:ext cx="10588752" cy="3291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8382E"/>
                </a:solidFill>
                <a:latin typeface="DejaVu Sans"/>
              </a:rPr>
              <a:t>What these checks exercise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5528" y="4818888"/>
            <a:ext cx="10588752" cy="7772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27064"/>
                </a:solidFill>
                <a:latin typeface="DejaVu Sans"/>
              </a:rPr>
              <a:t>Quantity integrity, multilingual rules, stock and pricing limits, permissions, corrections, review binding,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27064"/>
                </a:solidFill>
                <a:latin typeface="DejaVu Sans"/>
              </a:rPr>
              <a:t>owner approval, PDF / Excel, customer outcomes and isolated mobile links.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" y="6080760"/>
            <a:ext cx="1088136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20" b="0">
                <a:solidFill>
                  <a:srgbClr val="527064"/>
                </a:solidFill>
                <a:latin typeface="DejaVu Sans"/>
              </a:rPr>
              <a:t>Not yet verified: native WhatsApp integration, real API delivery, paid models, public hosting or clean Windows installation.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92608"/>
            <a:ext cx="100584" cy="210312"/>
          </a:xfrm>
          <a:prstGeom prst="rect">
            <a:avLst/>
          </a:prstGeom>
          <a:solidFill>
            <a:srgbClr val="123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8096" y="310896"/>
            <a:ext cx="914400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527064"/>
                </a:solidFill>
                <a:latin typeface="DejaVu Sans"/>
              </a:rPr>
              <a:t>EZQUOTE  /  SDC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943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18382E"/>
                </a:solidFill>
                <a:latin typeface="DejaVu Sans"/>
              </a:rPr>
              <a:t>SDG alignment, grounded in the workflow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419088"/>
            <a:ext cx="11091672" cy="10972"/>
          </a:xfrm>
          <a:prstGeom prst="rect">
            <a:avLst/>
          </a:prstGeom>
          <a:solidFill>
            <a:srgbClr val="D6E5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547104"/>
            <a:ext cx="9966960" cy="17373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10" b="0">
                <a:solidFill>
                  <a:srgbClr val="527064"/>
                </a:solidFill>
                <a:latin typeface="DejaVu Sans"/>
              </a:rPr>
              <a:t>EZQuote  |  Local, owner-approved quotation prototype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528816"/>
            <a:ext cx="530352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527064"/>
                </a:solidFill>
                <a:latin typeface="DejaVu Sans"/>
              </a:rPr>
              <a:t>07 / 08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746504"/>
            <a:ext cx="3557016" cy="362102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8890">
            <a:solidFill>
              <a:srgbClr val="D6E5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952" y="1993392"/>
            <a:ext cx="3136392" cy="6766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900" b="1">
                <a:solidFill>
                  <a:srgbClr val="18382E"/>
                </a:solidFill>
                <a:latin typeface="DejaVu Sans"/>
              </a:rPr>
              <a:t>8.2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2907792"/>
            <a:ext cx="3136392" cy="7498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8382E"/>
                </a:solidFill>
                <a:latin typeface="DejaVu Sans"/>
              </a:rPr>
              <a:t>Productivity through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8382E"/>
                </a:solidFill>
                <a:latin typeface="DejaVu Sans"/>
              </a:rPr>
              <a:t>technology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" y="3840480"/>
            <a:ext cx="3136392" cy="12710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20" b="0">
                <a:solidFill>
                  <a:srgbClr val="527064"/>
                </a:solidFill>
                <a:latin typeface="DejaVu Sans"/>
              </a:rPr>
              <a:t>Organize inquiry review,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20" b="0">
                <a:solidFill>
                  <a:srgbClr val="527064"/>
                </a:solidFill>
                <a:latin typeface="DejaVu Sans"/>
              </a:rPr>
              <a:t>business records and quotation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20" b="0">
                <a:solidFill>
                  <a:srgbClr val="527064"/>
                </a:solidFill>
                <a:latin typeface="DejaVu Sans"/>
              </a:rPr>
              <a:t>preparation in one repeatable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20" b="0">
                <a:solidFill>
                  <a:srgbClr val="527064"/>
                </a:solidFill>
                <a:latin typeface="DejaVu Sans"/>
              </a:rPr>
              <a:t>digital workflow.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15968" y="1746504"/>
            <a:ext cx="3557016" cy="362102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8890">
            <a:solidFill>
              <a:srgbClr val="D6E5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80" y="1993392"/>
            <a:ext cx="3136392" cy="6766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900" b="1">
                <a:solidFill>
                  <a:srgbClr val="18382E"/>
                </a:solidFill>
                <a:latin typeface="DejaVu Sans"/>
              </a:rPr>
              <a:t>8.3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6280" y="2907792"/>
            <a:ext cx="3136392" cy="7498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8382E"/>
                </a:solidFill>
                <a:latin typeface="DejaVu Sans"/>
              </a:rPr>
              <a:t>Support micro and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8382E"/>
                </a:solidFill>
                <a:latin typeface="DejaVu Sans"/>
              </a:rPr>
              <a:t>small firms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6280" y="3840480"/>
            <a:ext cx="3136392" cy="12710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20" b="0">
                <a:solidFill>
                  <a:srgbClr val="527064"/>
                </a:solidFill>
                <a:latin typeface="DejaVu Sans"/>
              </a:rPr>
              <a:t>Keep human ownership of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20" b="0">
                <a:solidFill>
                  <a:srgbClr val="527064"/>
                </a:solidFill>
                <a:latin typeface="DejaVu Sans"/>
              </a:rPr>
              <a:t>pricing while making records,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20" b="0">
                <a:solidFill>
                  <a:srgbClr val="527064"/>
                </a:solidFill>
                <a:latin typeface="DejaVu Sans"/>
              </a:rPr>
              <a:t>decisions and customer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20" b="0">
                <a:solidFill>
                  <a:srgbClr val="527064"/>
                </a:solidFill>
                <a:latin typeface="DejaVu Sans"/>
              </a:rPr>
              <a:t>outcomes easier to trace.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83296" y="1746504"/>
            <a:ext cx="3557016" cy="362102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8890">
            <a:solidFill>
              <a:srgbClr val="D6E5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93608" y="1993392"/>
            <a:ext cx="3136392" cy="6766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3900" b="1">
                <a:solidFill>
                  <a:srgbClr val="18382E"/>
                </a:solidFill>
                <a:latin typeface="DejaVu Sans"/>
              </a:rPr>
              <a:t>9.3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93608" y="2907792"/>
            <a:ext cx="3136392" cy="7498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8382E"/>
                </a:solidFill>
                <a:latin typeface="DejaVu Sans"/>
              </a:rPr>
              <a:t>Connect small firms to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8382E"/>
                </a:solidFill>
                <a:latin typeface="DejaVu Sans"/>
              </a:rPr>
              <a:t>markets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93608" y="3840480"/>
            <a:ext cx="3136392" cy="127101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20" b="0">
                <a:solidFill>
                  <a:srgbClr val="527064"/>
                </a:solidFill>
                <a:latin typeface="DejaVu Sans"/>
              </a:rPr>
              <a:t>Consistent, documented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20" b="0">
                <a:solidFill>
                  <a:srgbClr val="527064"/>
                </a:solidFill>
                <a:latin typeface="DejaVu Sans"/>
              </a:rPr>
              <a:t>quotations may support buyer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20" b="0">
                <a:solidFill>
                  <a:srgbClr val="527064"/>
                </a:solidFill>
                <a:latin typeface="DejaVu Sans"/>
              </a:rPr>
              <a:t>and supplier relationships. No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20" b="0">
                <a:solidFill>
                  <a:srgbClr val="527064"/>
                </a:solidFill>
                <a:latin typeface="DejaVu Sans"/>
              </a:rPr>
              <a:t>credit-access result is claimed.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5650992"/>
            <a:ext cx="10881360" cy="40233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8382E"/>
                </a:solidFill>
                <a:latin typeface="DejaVu Sans"/>
              </a:rPr>
              <a:t>This is qualitative alignment, not measured impact. No adoption, revenue, time-saving or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>
                <a:solidFill>
                  <a:srgbClr val="18382E"/>
                </a:solidFill>
                <a:latin typeface="DejaVu Sans"/>
              </a:rPr>
              <a:t>environmental outcome is claimed.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6199632"/>
            <a:ext cx="1088136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40" b="0">
                <a:solidFill>
                  <a:srgbClr val="527064"/>
                </a:solidFill>
                <a:latin typeface="DejaVu Sans"/>
              </a:rPr>
              <a:t>Targets: sdgs.un.org/goals/goal8  •  sdgs.un.org/goals/goal9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92608"/>
            <a:ext cx="100584" cy="210312"/>
          </a:xfrm>
          <a:prstGeom prst="rect">
            <a:avLst/>
          </a:prstGeom>
          <a:solidFill>
            <a:srgbClr val="123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8096" y="310896"/>
            <a:ext cx="914400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527064"/>
                </a:solidFill>
                <a:latin typeface="DejaVu Sans"/>
              </a:rPr>
              <a:t>EZQUOTE  /  SDC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86384"/>
            <a:ext cx="11064240" cy="5943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18382E"/>
                </a:solidFill>
                <a:latin typeface="DejaVu Sans"/>
              </a:rPr>
              <a:t>Local access today. Verified public links next.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6419088"/>
            <a:ext cx="11091672" cy="10972"/>
          </a:xfrm>
          <a:prstGeom prst="rect">
            <a:avLst/>
          </a:prstGeom>
          <a:solidFill>
            <a:srgbClr val="D6E5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547104"/>
            <a:ext cx="9966960" cy="17373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10" b="0">
                <a:solidFill>
                  <a:srgbClr val="527064"/>
                </a:solidFill>
                <a:latin typeface="DejaVu Sans"/>
              </a:rPr>
              <a:t>EZQuote  |  Local, owner-approved quotation prototype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528816"/>
            <a:ext cx="530352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>
                <a:solidFill>
                  <a:srgbClr val="527064"/>
                </a:solidFill>
                <a:latin typeface="DejaVu Sans"/>
              </a:rPr>
              <a:t>08 / 08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709928"/>
            <a:ext cx="5486400" cy="4507992"/>
          </a:xfrm>
          <a:prstGeom prst="roundRect">
            <a:avLst>
              <a:gd name="adj" fmla="val 8000"/>
            </a:avLst>
          </a:prstGeom>
          <a:solidFill>
            <a:srgbClr val="123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" y="1975104"/>
            <a:ext cx="5010912" cy="3657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BDEBD5"/>
                </a:solidFill>
                <a:latin typeface="DejaVu Sans"/>
              </a:rPr>
              <a:t>SOURCE AND LOCAL DEMO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2615184"/>
            <a:ext cx="5010912" cy="4663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DejaVu Sans"/>
              </a:rPr>
              <a:t>github.com/Dong-Wenhao/EZQuote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" y="3337560"/>
            <a:ext cx="5010912" cy="17373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620" b="0">
                <a:solidFill>
                  <a:srgbClr val="FFFFFF"/>
                </a:solidFill>
                <a:latin typeface="DejaVu Sans"/>
              </a:rPr>
              <a:t>1. Install Python 3.10+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620" b="0">
                <a:solidFill>
                  <a:srgbClr val="FFFFFF"/>
                </a:solidFill>
                <a:latin typeface="DejaVu Sans"/>
              </a:rPr>
              <a:t>2. Run: python run.py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620" b="0">
                <a:solidFill>
                  <a:srgbClr val="FFFFFF"/>
                </a:solidFill>
                <a:latin typeface="DejaVu Sans"/>
              </a:rPr>
              <a:t>3. Load extension/ in Chrome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620" b="0">
                <a:solidFill>
                  <a:srgbClr val="FFFFFF"/>
                </a:solidFill>
                <a:latin typeface="DejaVu Sans"/>
              </a:rPr>
              <a:t>4. Import samples/business_demo.xlsx</a:t>
            </a:r>
          </a:p>
          <a:p>
            <a:pPr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620" b="0">
                <a:solidFill>
                  <a:srgbClr val="FFFFFF"/>
                </a:solidFill>
                <a:latin typeface="DejaVu Sans"/>
              </a:rPr>
              <a:t>5. Review, approve and export a quote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" y="5532120"/>
            <a:ext cx="5010912" cy="3931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10" b="0">
                <a:solidFill>
                  <a:srgbClr val="BDEBD5"/>
                </a:solidFill>
                <a:latin typeface="DejaVu Sans"/>
              </a:rPr>
              <a:t>Code: Apache 2.0</a:t>
            </a: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10" b="0">
                <a:solidFill>
                  <a:srgbClr val="BDEBD5"/>
                </a:solidFill>
                <a:latin typeface="DejaVu Sans"/>
              </a:rPr>
              <a:t>Bundled font: SIL OFL 1.1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54496" y="1709928"/>
            <a:ext cx="5385816" cy="45079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8890">
            <a:solidFill>
              <a:srgbClr val="D6E5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1965960"/>
            <a:ext cx="4892040" cy="4114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8382E"/>
                </a:solidFill>
                <a:latin typeface="DejaVu Sans"/>
              </a:rPr>
              <a:t>Submission access status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642616"/>
            <a:ext cx="4892040" cy="2651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8382E"/>
                </a:solidFill>
                <a:latin typeface="DejaVu Sans"/>
              </a:rPr>
              <a:t>Local prototype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2971800"/>
            <a:ext cx="4892040" cy="3749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10" b="0">
                <a:solidFill>
                  <a:srgbClr val="527064"/>
                </a:solidFill>
                <a:latin typeface="DejaVu Sans"/>
              </a:rPr>
              <a:t>Validated with synthetic demonstration data.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3401568"/>
            <a:ext cx="4892040" cy="2651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8382E"/>
                </a:solidFill>
                <a:latin typeface="DejaVu Sans"/>
              </a:rPr>
              <a:t>Hosted prototype and video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3730752"/>
            <a:ext cx="4892040" cy="3749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10" b="0">
                <a:solidFill>
                  <a:srgbClr val="527064"/>
                </a:solidFill>
                <a:latin typeface="DejaVu Sans"/>
              </a:rPr>
              <a:t>Public URL and YouTube link awaiting verification.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4160520"/>
            <a:ext cx="4892040" cy="2651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8382E"/>
                </a:solidFill>
                <a:latin typeface="DejaVu Sans"/>
              </a:rPr>
              <a:t>Replit / RunPod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4489704"/>
            <a:ext cx="4892040" cy="3749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10" b="0">
                <a:solidFill>
                  <a:srgbClr val="527064"/>
                </a:solidFill>
                <a:latin typeface="DejaVu Sans"/>
              </a:rPr>
              <a:t>Usage is not verified; no proof is asserted.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4919472"/>
            <a:ext cx="4892040" cy="2651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8382E"/>
                </a:solidFill>
                <a:latin typeface="DejaVu Sans"/>
              </a:rPr>
              <a:t>Formal submission materials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5248656"/>
            <a:ext cx="4892040" cy="3749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10" b="0">
                <a:solidFill>
                  <a:srgbClr val="527064"/>
                </a:solidFill>
                <a:latin typeface="DejaVu Sans"/>
              </a:rPr>
              <a:t>Official form, eligibility and signatures require team input.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EZQuote — Owner-approved quotations</dc:title>
  <dc:subject>SDC 2026 project pitch: implemented local prototype and verification limits</dc:subject>
  <dc:creator>EZQuote project</dc:creator>
  <cp:keywords>EZQuote, quotations, building materials, human approval, SDC 2026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